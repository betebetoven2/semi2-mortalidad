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99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jgzBAhw3QF90zlomW62/TnP9Ih5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9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o Hernández" userId="fbfb8abd7422eb0e" providerId="LiveId" clId="{0E0A2E5F-244E-4507-A01F-E16B434C90D7}"/>
    <pc:docChg chg="modSld">
      <pc:chgData name="Fabio Hernández" userId="fbfb8abd7422eb0e" providerId="LiveId" clId="{0E0A2E5F-244E-4507-A01F-E16B434C90D7}" dt="2026-06-26T09:24:28.212" v="50" actId="20577"/>
      <pc:docMkLst>
        <pc:docMk/>
      </pc:docMkLst>
      <pc:sldChg chg="modSp mod modNotes">
        <pc:chgData name="Fabio Hernández" userId="fbfb8abd7422eb0e" providerId="LiveId" clId="{0E0A2E5F-244E-4507-A01F-E16B434C90D7}" dt="2026-06-26T09:24:28.212" v="50" actId="20577"/>
        <pc:sldMkLst>
          <pc:docMk/>
          <pc:sldMk cId="0" sldId="265"/>
        </pc:sldMkLst>
        <pc:spChg chg="mod">
          <ac:chgData name="Fabio Hernández" userId="fbfb8abd7422eb0e" providerId="LiveId" clId="{0E0A2E5F-244E-4507-A01F-E16B434C90D7}" dt="2026-06-26T09:24:28.212" v="50" actId="20577"/>
          <ac:spMkLst>
            <pc:docMk/>
            <pc:sldMk cId="0" sldId="265"/>
            <ac:spMk id="255" creationId="{00000000-0000-0000-0000-000000000000}"/>
          </ac:spMkLst>
        </pc:spChg>
      </pc:sldChg>
      <pc:sldChg chg="modNotes">
        <pc:chgData name="Fabio Hernández" userId="fbfb8abd7422eb0e" providerId="LiveId" clId="{0E0A2E5F-244E-4507-A01F-E16B434C90D7}" dt="2026-06-26T09:20:15.955" v="0"/>
        <pc:sldMkLst>
          <pc:docMk/>
          <pc:sldMk cId="0" sldId="267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Exceso (observado - esperado)</c:v>
                </c:pt>
              </c:strCache>
            </c:strRef>
          </c:tx>
          <c:spPr>
            <a:solidFill>
              <a:srgbClr val="FF5A3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DD4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58F-48B4-91CD-2884341D6DFF}"/>
              </c:ext>
            </c:extLst>
          </c:dPt>
          <c:dPt>
            <c:idx val="1"/>
            <c:invertIfNegative val="0"/>
            <c:bubble3D val="0"/>
            <c:spPr>
              <a:solidFill>
                <a:srgbClr val="2DD4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58F-48B4-91CD-2884341D6DFF}"/>
              </c:ext>
            </c:extLst>
          </c:dPt>
          <c:dPt>
            <c:idx val="2"/>
            <c:invertIfNegative val="0"/>
            <c:bubble3D val="0"/>
            <c:spPr>
              <a:solidFill>
                <a:srgbClr val="2DD4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58F-48B4-91CD-2884341D6DFF}"/>
              </c:ext>
            </c:extLst>
          </c:dPt>
          <c:dPt>
            <c:idx val="3"/>
            <c:invertIfNegative val="0"/>
            <c:bubble3D val="0"/>
            <c:spPr>
              <a:solidFill>
                <a:srgbClr val="2DD4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58F-48B4-91CD-2884341D6DFF}"/>
              </c:ext>
            </c:extLst>
          </c:dPt>
          <c:dPt>
            <c:idx val="4"/>
            <c:invertIfNegative val="0"/>
            <c:bubble3D val="0"/>
            <c:spPr>
              <a:solidFill>
                <a:srgbClr val="2DD4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58F-48B4-91CD-2884341D6DFF}"/>
              </c:ext>
            </c:extLst>
          </c:dPt>
          <c:dPt>
            <c:idx val="5"/>
            <c:invertIfNegative val="0"/>
            <c:bubble3D val="0"/>
            <c:spPr>
              <a:solidFill>
                <a:srgbClr val="2DD4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58F-48B4-91CD-2884341D6DFF}"/>
              </c:ext>
            </c:extLst>
          </c:dPt>
          <c:dPt>
            <c:idx val="6"/>
            <c:invertIfNegative val="0"/>
            <c:bubble3D val="0"/>
            <c:spPr>
              <a:solidFill>
                <a:srgbClr val="2DD4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358F-48B4-91CD-2884341D6DFF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358F-48B4-91CD-2884341D6DFF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358F-48B4-91CD-2884341D6DFF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358F-48B4-91CD-2884341D6DFF}"/>
              </c:ext>
            </c:extLst>
          </c:dPt>
          <c:dPt>
            <c:idx val="10"/>
            <c:invertIfNegative val="0"/>
            <c:bubble3D val="0"/>
            <c:spPr>
              <a:solidFill>
                <a:srgbClr val="2DD4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358F-48B4-91CD-2884341D6DFF}"/>
              </c:ext>
            </c:extLst>
          </c:dPt>
          <c:dPt>
            <c:idx val="11"/>
            <c:invertIfNegative val="0"/>
            <c:bubble3D val="0"/>
            <c:spPr>
              <a:solidFill>
                <a:srgbClr val="2DD4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358F-48B4-91CD-2884341D6DFF}"/>
              </c:ext>
            </c:extLst>
          </c:dPt>
          <c:cat>
            <c:strRef>
              <c:f>Sheet1!$A$2:$A$13</c:f>
              <c:strCache>
                <c:ptCount val="12"/>
                <c:pt idx="0">
                  <c:v>Ene23</c:v>
                </c:pt>
                <c:pt idx="1">
                  <c:v>Mar23</c:v>
                </c:pt>
                <c:pt idx="2">
                  <c:v>May23</c:v>
                </c:pt>
                <c:pt idx="3">
                  <c:v>Jul23</c:v>
                </c:pt>
                <c:pt idx="4">
                  <c:v>Sep23</c:v>
                </c:pt>
                <c:pt idx="5">
                  <c:v>Nov23</c:v>
                </c:pt>
                <c:pt idx="6">
                  <c:v>Ene24</c:v>
                </c:pt>
                <c:pt idx="7">
                  <c:v>Mar24</c:v>
                </c:pt>
                <c:pt idx="8">
                  <c:v>May24</c:v>
                </c:pt>
                <c:pt idx="9">
                  <c:v>Jul24</c:v>
                </c:pt>
                <c:pt idx="10">
                  <c:v>Sep24</c:v>
                </c:pt>
                <c:pt idx="11">
                  <c:v>Nov24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-180</c:v>
                </c:pt>
                <c:pt idx="1">
                  <c:v>-310</c:v>
                </c:pt>
                <c:pt idx="2">
                  <c:v>-420</c:v>
                </c:pt>
                <c:pt idx="3">
                  <c:v>-1060</c:v>
                </c:pt>
                <c:pt idx="4">
                  <c:v>-1160</c:v>
                </c:pt>
                <c:pt idx="5">
                  <c:v>-260</c:v>
                </c:pt>
                <c:pt idx="6">
                  <c:v>-90</c:v>
                </c:pt>
                <c:pt idx="7">
                  <c:v>310</c:v>
                </c:pt>
                <c:pt idx="8">
                  <c:v>1488</c:v>
                </c:pt>
                <c:pt idx="9">
                  <c:v>260</c:v>
                </c:pt>
                <c:pt idx="10">
                  <c:v>-140</c:v>
                </c:pt>
                <c:pt idx="11">
                  <c:v>-200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358F-48B4-91CD-2884341D6D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4293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8B92A6"/>
                </a:solidFill>
                <a:latin typeface="Arial"/>
              </a:defRPr>
            </a:pPr>
            <a:endParaRPr lang="es-GT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4293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4293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8"/>
                </a:solidFill>
                <a:latin typeface="Arial"/>
              </a:defRPr>
            </a:pPr>
            <a:endParaRPr lang="es-GT"/>
          </a:p>
        </c:txPr>
        <c:crossAx val="2094734554"/>
        <c:crosses val="autoZero"/>
        <c:crossBetween val="between"/>
      </c:valAx>
      <c:spPr>
        <a:solidFill>
          <a:srgbClr val="0B0E14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B0E1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" name="Google Shape;21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" name="Google Shape;39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" name="Google Shape;73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" name="Google Shape;202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" name="Google Shape;233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ef7a8adb93_13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g3ef7a8adb93_13_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g3ef7a8adb93_13_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8" name="Google Shape;258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5" name="Google Shape;275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ef7a8adb93_13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1" name="Google Shape;291;g3ef7a8adb93_13_3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g3ef7a8adb93_13_3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3" name="Google Shape;303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3" name="Google Shape;323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4" name="Google Shape;384;p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ef7a8adb93_1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4" name="Google Shape;404;g3ef7a8adb93_14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g3ef7a8adb93_14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ef7a8adb93_14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5" name="Google Shape;415;g3ef7a8adb93_14_3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g3ef7a8adb93_14_3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6" name="Google Shape;426;p1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1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agn.gt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hyperlink" Target="https://agn.gt/guatemala-registra-mas-de-17-mil-casos-de-dengue-durante-2024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9144000" y="4389120"/>
            <a:ext cx="6400800" cy="6400800"/>
          </a:xfrm>
          <a:prstGeom prst="ellipse">
            <a:avLst/>
          </a:prstGeom>
          <a:noFill/>
          <a:ln w="15875" cap="flat" cmpd="sng">
            <a:solidFill>
              <a:srgbClr val="2DD4BF">
                <a:alpha val="2196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9692640" y="4937760"/>
            <a:ext cx="5303520" cy="5303520"/>
          </a:xfrm>
          <a:prstGeom prst="ellipse">
            <a:avLst/>
          </a:prstGeom>
          <a:noFill/>
          <a:ln w="12700" cap="flat" cmpd="sng">
            <a:solidFill>
              <a:srgbClr val="FF5A36">
                <a:alpha val="1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"/>
          <p:cNvSpPr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PNUD  ·  MSPAS  ·  GUATEMALA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731520" y="1554480"/>
            <a:ext cx="987552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El modelo encontró </a:t>
            </a:r>
            <a:r>
              <a:rPr lang="en-US" sz="5000" b="1" i="0" u="none" strike="noStrike" cap="none">
                <a:solidFill>
                  <a:srgbClr val="FF5A36"/>
                </a:solidFill>
                <a:latin typeface="Arial"/>
                <a:ea typeface="Arial"/>
                <a:cs typeface="Arial"/>
                <a:sym typeface="Arial"/>
              </a:rPr>
              <a:t>COVID-19</a:t>
            </a:r>
            <a:r>
              <a:rPr lang="en-US" sz="5000" b="1" i="0" u="none" strike="noStrike" cap="none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. Sol</a:t>
            </a:r>
            <a:r>
              <a:rPr lang="en-US" sz="5000" b="1">
                <a:solidFill>
                  <a:srgbClr val="F4F4F5"/>
                </a:solidFill>
              </a:rPr>
              <a:t>o</a:t>
            </a:r>
            <a:r>
              <a:rPr lang="en-US" sz="5000" b="1" i="0" u="none" strike="noStrike" cap="none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En los datos.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731520" y="4160520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700"/>
              <a:buFont typeface="Arial"/>
              <a:buNone/>
            </a:pPr>
            <a:r>
              <a:rPr lang="en-US" sz="1700" b="0" i="0" u="none" strike="noStrike" cap="none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Plataforma Analítica de Mortalidad End to End — Guatemala, 2015 a 2024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Seminario de Sistemas 2 · Sección A · Escuela de Vacaciones 2026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731520" y="64008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Alberto Hernández  ·  Fabio Hernández  ·  Luis Morales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EL ENCARGO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640080" y="914400"/>
            <a:ext cx="603504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3000"/>
              <a:buFont typeface="Arial"/>
              <a:buNone/>
            </a:pPr>
            <a:r>
              <a:rPr lang="en-US" sz="3000" b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Comparar la mortalidad de Guatemala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3000"/>
              <a:buFont typeface="Arial"/>
              <a:buNone/>
            </a:pPr>
            <a:r>
              <a:rPr lang="en-US" sz="3000" b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antes y después de la pandemia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640080" y="2606040"/>
            <a:ext cx="576072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Consultoría simulada bajo el modelo PNUD, en acompañamiento al Ministerio de Salud Pública y Asistencia Social. El objetivo: integrar fuentes heterogéneas de mortalidad, gobernarlas bajo una arquitectura por capas, y producir evidencia que sustente decisiones de política pública.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6903720" y="1463040"/>
            <a:ext cx="1554480" cy="3200400"/>
          </a:xfrm>
          <a:prstGeom prst="roundRect">
            <a:avLst>
              <a:gd name="adj" fmla="val 7059"/>
            </a:avLst>
          </a:prstGeom>
          <a:solidFill>
            <a:srgbClr val="151922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6995160" y="2240280"/>
            <a:ext cx="1371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5A36"/>
              </a:buClr>
              <a:buSzPts val="2600"/>
              <a:buFont typeface="Arial"/>
              <a:buNone/>
            </a:pPr>
            <a:r>
              <a:rPr lang="en-US" sz="2600" b="1">
                <a:solidFill>
                  <a:srgbClr val="FF5A36"/>
                </a:solidFill>
                <a:latin typeface="Arial"/>
                <a:ea typeface="Arial"/>
                <a:cs typeface="Arial"/>
                <a:sym typeface="Arial"/>
              </a:rPr>
              <a:t>919,231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7013448" y="3108960"/>
            <a:ext cx="133502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registros de defunción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INE 2015–2024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8595360" y="1463040"/>
            <a:ext cx="1554480" cy="3200400"/>
          </a:xfrm>
          <a:prstGeom prst="roundRect">
            <a:avLst>
              <a:gd name="adj" fmla="val 7059"/>
            </a:avLst>
          </a:prstGeom>
          <a:solidFill>
            <a:srgbClr val="151922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8686800" y="2240280"/>
            <a:ext cx="1371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3400"/>
              <a:buFont typeface="Arial"/>
              <a:buNone/>
            </a:pPr>
            <a:r>
              <a:rPr lang="en-US" sz="3400" b="1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8705088" y="3108960"/>
            <a:ext cx="133502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fases acumulativas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de la consultoría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0287000" y="1463040"/>
            <a:ext cx="1554480" cy="3200400"/>
          </a:xfrm>
          <a:prstGeom prst="roundRect">
            <a:avLst>
              <a:gd name="adj" fmla="val 7059"/>
            </a:avLst>
          </a:prstGeom>
          <a:solidFill>
            <a:srgbClr val="151922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10378440" y="2240280"/>
            <a:ext cx="1371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3400"/>
              <a:buFont typeface="Arial"/>
              <a:buNone/>
            </a:pPr>
            <a:r>
              <a:rPr lang="en-US" sz="3400" b="1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10396728" y="3108960"/>
            <a:ext cx="133502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dimensiones en el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modelo dimensional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1247120" y="630936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FASE 1 — FUNDAMENTOS DE 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640080" y="91440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2700"/>
              <a:buFont typeface="Arial"/>
              <a:buNone/>
            </a:pPr>
            <a:r>
              <a:rPr lang="en-US" sz="2700" b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Cuatro fuentes, tres formatos, un solo punto de entrada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640080" y="160020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La heterogeneidad no es teórica: INE publica Excel y SPSS legado, OMS y el Banco Mundial exponen API, y el sitio del INE bloquea el acceso automatizado con protecciones anti-bot.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640080" y="2331720"/>
            <a:ext cx="2468880" cy="1417320"/>
          </a:xfrm>
          <a:prstGeom prst="roundRect">
            <a:avLst>
              <a:gd name="adj" fmla="val 6452"/>
            </a:avLst>
          </a:prstGeom>
          <a:solidFill>
            <a:srgbClr val="151922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923544" y="2615184"/>
            <a:ext cx="566928" cy="566928"/>
          </a:xfrm>
          <a:prstGeom prst="ellipse">
            <a:avLst/>
          </a:prstGeom>
          <a:solidFill>
            <a:srgbClr val="2A3142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" name="Google Shape;47;p3" descr="icons/filealt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5276" y="2756916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3"/>
          <p:cNvSpPr/>
          <p:nvPr/>
        </p:nvSpPr>
        <p:spPr>
          <a:xfrm>
            <a:off x="1600200" y="251460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INE Guatemala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868680" y="32461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.xlsx + .sav legado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3291840" y="2331720"/>
            <a:ext cx="2468880" cy="1417320"/>
          </a:xfrm>
          <a:prstGeom prst="roundRect">
            <a:avLst>
              <a:gd name="adj" fmla="val 6452"/>
            </a:avLst>
          </a:prstGeom>
          <a:solidFill>
            <a:srgbClr val="151922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3575304" y="2615184"/>
            <a:ext cx="566928" cy="566928"/>
          </a:xfrm>
          <a:prstGeom prst="ellipse">
            <a:avLst/>
          </a:prstGeom>
          <a:solidFill>
            <a:srgbClr val="2A3142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2" name="Google Shape;52;p3" descr="icons/globe_whit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17036" y="2756916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"/>
          <p:cNvSpPr/>
          <p:nvPr/>
        </p:nvSpPr>
        <p:spPr>
          <a:xfrm>
            <a:off x="4251960" y="251460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OMS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3520440" y="32461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Mortality Database (API)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5943600" y="2331720"/>
            <a:ext cx="2468880" cy="1417320"/>
          </a:xfrm>
          <a:prstGeom prst="roundRect">
            <a:avLst>
              <a:gd name="adj" fmla="val 6452"/>
            </a:avLst>
          </a:prstGeom>
          <a:solidFill>
            <a:srgbClr val="151922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6227064" y="2615184"/>
            <a:ext cx="566928" cy="566928"/>
          </a:xfrm>
          <a:prstGeom prst="ellipse">
            <a:avLst/>
          </a:prstGeom>
          <a:solidFill>
            <a:srgbClr val="2A3142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" name="Google Shape;57;p3" descr="icons/globe_whit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68796" y="2756916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3"/>
          <p:cNvSpPr/>
          <p:nvPr/>
        </p:nvSpPr>
        <p:spPr>
          <a:xfrm>
            <a:off x="6903720" y="251460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Banco Mundial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6172200" y="32461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Indicadores regionales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8595360" y="2331720"/>
            <a:ext cx="2468880" cy="1417320"/>
          </a:xfrm>
          <a:prstGeom prst="roundRect">
            <a:avLst>
              <a:gd name="adj" fmla="val 6452"/>
            </a:avLst>
          </a:prstGeom>
          <a:solidFill>
            <a:srgbClr val="151922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8878824" y="2615184"/>
            <a:ext cx="566928" cy="566928"/>
          </a:xfrm>
          <a:prstGeom prst="ellipse">
            <a:avLst/>
          </a:prstGeom>
          <a:solidFill>
            <a:srgbClr val="2A3142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2" name="Google Shape;62;p3" descr="icons/filealt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0556" y="2756916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3"/>
          <p:cNvSpPr/>
          <p:nvPr/>
        </p:nvSpPr>
        <p:spPr>
          <a:xfrm>
            <a:off x="9555480" y="251460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RENAP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8823960" y="32461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Solicitud formal (oficio)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40080" y="4069080"/>
            <a:ext cx="10881360" cy="2103120"/>
          </a:xfrm>
          <a:prstGeom prst="roundRect">
            <a:avLst>
              <a:gd name="adj" fmla="val 5217"/>
            </a:avLst>
          </a:prstGeom>
          <a:solidFill>
            <a:srgbClr val="1C212C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005840" y="4617720"/>
            <a:ext cx="1005840" cy="1005840"/>
          </a:xfrm>
          <a:prstGeom prst="ellipse">
            <a:avLst/>
          </a:prstGeom>
          <a:solidFill>
            <a:srgbClr val="FF5A36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7" name="Google Shape;67;p3" descr="icons/microchip_whit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57300" y="48691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3"/>
          <p:cNvSpPr/>
          <p:nvPr/>
        </p:nvSpPr>
        <p:spPr>
          <a:xfrm>
            <a:off x="2286000" y="4343400"/>
            <a:ext cx="8778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Un dispositivo físico, no un servidor en la nube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2286000" y="4800600"/>
            <a:ext cx="877824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La ingesta corre 24/7 sobre una Raspberry Pi 5 — un computador de placa única, el mismo tipo de hardware que usa cualquier proyecto de IoT — con un NAS Toshiba de 2 TB conectado por red local para almacenamiento intermedio. El navegador automatizado que evade el bloqueo anti-bot del INE corre ahí, no en la nube.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1247120" y="630936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640080" y="91440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2700"/>
              <a:buFont typeface="Arial"/>
              <a:buNone/>
            </a:pPr>
            <a:r>
              <a:rPr lang="en-US" sz="2700" b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Diagrama de despliegue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640080" y="160020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457200" y="1783080"/>
            <a:ext cx="10881360" cy="4526280"/>
          </a:xfrm>
          <a:prstGeom prst="roundRect">
            <a:avLst>
              <a:gd name="adj" fmla="val 5217"/>
            </a:avLst>
          </a:prstGeom>
          <a:solidFill>
            <a:srgbClr val="1C212C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11247120" y="630936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" name="Google Shape;81;p4" descr="Diagrama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70006" y="1869345"/>
            <a:ext cx="8615213" cy="4256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ARQUITECTURA DE DESPLIEGUE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640080" y="91440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De un cuarto en Guatemala a un repositorio en la nube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00"/>
              <a:buFont typeface="Arial"/>
              <a:buNone/>
            </a:pPr>
            <a:r>
              <a:rPr lang="en-US" sz="1200" i="1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Topología real, tal como está documentada en el diagrama de despliegue del repositorio.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548640" y="196596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151922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786384" y="2157984"/>
            <a:ext cx="530352" cy="530352"/>
          </a:xfrm>
          <a:prstGeom prst="ellipse">
            <a:avLst/>
          </a:prstGeom>
          <a:solidFill>
            <a:srgbClr val="2A3142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2" name="Google Shape;92;p5" descr="icons/globe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8972" y="2290572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5"/>
          <p:cNvSpPr/>
          <p:nvPr/>
        </p:nvSpPr>
        <p:spPr>
          <a:xfrm>
            <a:off x="1463040" y="2093976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1250"/>
              <a:buFont typeface="Arial"/>
              <a:buNone/>
            </a:pPr>
            <a:r>
              <a:rPr lang="en-US" sz="1250" b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Fuentes públicas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1463040" y="2441448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INE · OMS · World Bank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548640" y="338328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151922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786384" y="3575304"/>
            <a:ext cx="530352" cy="530352"/>
          </a:xfrm>
          <a:prstGeom prst="ellipse">
            <a:avLst/>
          </a:prstGeom>
          <a:solidFill>
            <a:srgbClr val="FF5A36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7" name="Google Shape;97;p5" descr="icons/microchip_whit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8972" y="3707892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5"/>
          <p:cNvSpPr/>
          <p:nvPr/>
        </p:nvSpPr>
        <p:spPr>
          <a:xfrm>
            <a:off x="1463040" y="3511296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1250"/>
              <a:buFont typeface="Arial"/>
              <a:buNone/>
            </a:pPr>
            <a:r>
              <a:rPr lang="en-US" sz="1250" b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Raspberry Pi 5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1463040" y="3858768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Scraping + orquestación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548640" y="480060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151922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786384" y="4992624"/>
            <a:ext cx="530352" cy="530352"/>
          </a:xfrm>
          <a:prstGeom prst="ellipse">
            <a:avLst/>
          </a:prstGeom>
          <a:solidFill>
            <a:srgbClr val="2A3142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2" name="Google Shape;102;p5" descr="icons/server_whit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8972" y="5125212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5"/>
          <p:cNvSpPr/>
          <p:nvPr/>
        </p:nvSpPr>
        <p:spPr>
          <a:xfrm>
            <a:off x="1463040" y="4928616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1250"/>
              <a:buFont typeface="Arial"/>
              <a:buNone/>
            </a:pPr>
            <a:r>
              <a:rPr lang="en-US" sz="1250" b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NAS Toshiba 2TB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1463040" y="5276088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Almacenamiento intermedio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p5"/>
          <p:cNvCxnSpPr/>
          <p:nvPr/>
        </p:nvCxnSpPr>
        <p:spPr>
          <a:xfrm>
            <a:off x="1783080" y="2880360"/>
            <a:ext cx="0" cy="502920"/>
          </a:xfrm>
          <a:prstGeom prst="straightConnector1">
            <a:avLst/>
          </a:prstGeom>
          <a:noFill/>
          <a:ln w="15875" cap="flat" cmpd="sng">
            <a:solidFill>
              <a:srgbClr val="5B6478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06" name="Google Shape;106;p5"/>
          <p:cNvSpPr/>
          <p:nvPr/>
        </p:nvSpPr>
        <p:spPr>
          <a:xfrm>
            <a:off x="1892808" y="3022092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HTTPS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5"/>
          <p:cNvCxnSpPr/>
          <p:nvPr/>
        </p:nvCxnSpPr>
        <p:spPr>
          <a:xfrm>
            <a:off x="1783080" y="4297680"/>
            <a:ext cx="0" cy="502920"/>
          </a:xfrm>
          <a:prstGeom prst="straightConnector1">
            <a:avLst/>
          </a:prstGeom>
          <a:noFill/>
          <a:ln w="15875" cap="flat" cmpd="sng">
            <a:solidFill>
              <a:srgbClr val="5B6478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08" name="Google Shape;108;p5"/>
          <p:cNvSpPr/>
          <p:nvPr/>
        </p:nvSpPr>
        <p:spPr>
          <a:xfrm>
            <a:off x="1892808" y="4439412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SMB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3520440" y="338328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151922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3758184" y="3575304"/>
            <a:ext cx="530352" cy="530352"/>
          </a:xfrm>
          <a:prstGeom prst="ellipse">
            <a:avLst/>
          </a:prstGeom>
          <a:solidFill>
            <a:srgbClr val="2DD4BF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1" name="Google Shape;111;p5" descr="icons/cloud_whit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90772" y="3707892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/>
          <p:cNvSpPr/>
          <p:nvPr/>
        </p:nvSpPr>
        <p:spPr>
          <a:xfrm>
            <a:off x="4434840" y="3511296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1250"/>
              <a:buFont typeface="Arial"/>
              <a:buNone/>
            </a:pPr>
            <a:r>
              <a:rPr lang="en-US" sz="1250" b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AWS S3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4434840" y="3858768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raw/ine · raw/oms · raw/wb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5"/>
          <p:cNvCxnSpPr/>
          <p:nvPr/>
        </p:nvCxnSpPr>
        <p:spPr>
          <a:xfrm>
            <a:off x="3017520" y="3840480"/>
            <a:ext cx="502920" cy="0"/>
          </a:xfrm>
          <a:prstGeom prst="straightConnector1">
            <a:avLst/>
          </a:prstGeom>
          <a:noFill/>
          <a:ln w="15875" cap="flat" cmpd="sng">
            <a:solidFill>
              <a:srgbClr val="5B6478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15" name="Google Shape;115;p5"/>
          <p:cNvSpPr/>
          <p:nvPr/>
        </p:nvSpPr>
        <p:spPr>
          <a:xfrm>
            <a:off x="3017520" y="3547872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Boto3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6629400" y="1851597"/>
            <a:ext cx="4297800" cy="3612000"/>
          </a:xfrm>
          <a:prstGeom prst="roundRect">
            <a:avLst>
              <a:gd name="adj" fmla="val 2532"/>
            </a:avLst>
          </a:prstGeom>
          <a:solidFill>
            <a:srgbClr val="1C212C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6766570" y="1920233"/>
            <a:ext cx="3749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1350"/>
              <a:buFont typeface="Arial"/>
              <a:buNone/>
            </a:pPr>
            <a:r>
              <a:rPr lang="en-US" sz="1350" b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Databricks (Serverless)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6812280" y="2423160"/>
            <a:ext cx="182880" cy="182880"/>
          </a:xfrm>
          <a:prstGeom prst="ellipse">
            <a:avLst/>
          </a:prstGeom>
          <a:solidFill>
            <a:srgbClr val="2A314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7132320" y="2340864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Bronze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812280" y="2953512"/>
            <a:ext cx="182880" cy="182880"/>
          </a:xfrm>
          <a:prstGeom prst="ellipse">
            <a:avLst/>
          </a:prstGeom>
          <a:solidFill>
            <a:srgbClr val="2A314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7132320" y="2871216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Stage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6812280" y="3483864"/>
            <a:ext cx="182880" cy="182880"/>
          </a:xfrm>
          <a:prstGeom prst="ellipse">
            <a:avLst/>
          </a:prstGeom>
          <a:solidFill>
            <a:srgbClr val="FF5A3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7132320" y="3401568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DW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6812280" y="4014216"/>
            <a:ext cx="182880" cy="18288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7132320" y="393192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ML — 3 jobs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6812280" y="4544568"/>
            <a:ext cx="182880" cy="182880"/>
          </a:xfrm>
          <a:prstGeom prst="ellipse">
            <a:avLst/>
          </a:prstGeom>
          <a:solidFill>
            <a:srgbClr val="2A314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7132320" y="4462272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Dashboards SQL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5"/>
          <p:cNvCxnSpPr/>
          <p:nvPr/>
        </p:nvCxnSpPr>
        <p:spPr>
          <a:xfrm>
            <a:off x="5852100" y="3840348"/>
            <a:ext cx="797700" cy="0"/>
          </a:xfrm>
          <a:prstGeom prst="straightConnector1">
            <a:avLst/>
          </a:prstGeom>
          <a:noFill/>
          <a:ln w="15875" cap="flat" cmpd="sng">
            <a:solidFill>
              <a:srgbClr val="5B6478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29" name="Google Shape;129;p5"/>
          <p:cNvSpPr/>
          <p:nvPr/>
        </p:nvSpPr>
        <p:spPr>
          <a:xfrm>
            <a:off x="5966425" y="3310188"/>
            <a:ext cx="5487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Delta / Auto Loader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0" name="Google Shape;130;p5"/>
          <p:cNvGrpSpPr/>
          <p:nvPr/>
        </p:nvGrpSpPr>
        <p:grpSpPr>
          <a:xfrm>
            <a:off x="6844500" y="5463597"/>
            <a:ext cx="2469000" cy="1238947"/>
            <a:chOff x="6400800" y="5207573"/>
            <a:chExt cx="2469000" cy="1238947"/>
          </a:xfrm>
        </p:grpSpPr>
        <p:sp>
          <p:nvSpPr>
            <p:cNvPr id="131" name="Google Shape;131;p5"/>
            <p:cNvSpPr/>
            <p:nvPr/>
          </p:nvSpPr>
          <p:spPr>
            <a:xfrm>
              <a:off x="6400800" y="5532120"/>
              <a:ext cx="2469000" cy="914400"/>
            </a:xfrm>
            <a:prstGeom prst="roundRect">
              <a:avLst>
                <a:gd name="adj" fmla="val 8000"/>
              </a:avLst>
            </a:prstGeom>
            <a:solidFill>
              <a:srgbClr val="151922"/>
            </a:solidFill>
            <a:ln>
              <a:noFill/>
            </a:ln>
            <a:effectLst>
              <a:outerShdw blurRad="228600" dist="76200" dir="5400000" algn="bl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6638544" y="5724144"/>
              <a:ext cx="530352" cy="530352"/>
            </a:xfrm>
            <a:prstGeom prst="ellipse">
              <a:avLst/>
            </a:prstGeom>
            <a:solidFill>
              <a:srgbClr val="FF5A36"/>
            </a:solidFill>
            <a:ln>
              <a:noFill/>
            </a:ln>
            <a:effectLst>
              <a:outerShdw blurRad="228600" dist="76200" dir="5400000" algn="bl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3" name="Google Shape;133;p5" descr="icons/bi_whit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771132" y="5856732"/>
              <a:ext cx="265176" cy="2651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" name="Google Shape;134;p5"/>
            <p:cNvSpPr/>
            <p:nvPr/>
          </p:nvSpPr>
          <p:spPr>
            <a:xfrm>
              <a:off x="7315200" y="5660136"/>
              <a:ext cx="14173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F4F4F5"/>
                </a:buClr>
                <a:buSzPts val="1250"/>
                <a:buFont typeface="Arial"/>
                <a:buNone/>
              </a:pPr>
              <a:r>
                <a:rPr lang="en-US" sz="1250" b="1">
                  <a:solidFill>
                    <a:srgbClr val="F4F4F5"/>
                  </a:solidFill>
                  <a:latin typeface="Arial"/>
                  <a:ea typeface="Arial"/>
                  <a:cs typeface="Arial"/>
                  <a:sym typeface="Arial"/>
                </a:rPr>
                <a:t>Power BI</a:t>
              </a:r>
              <a:endParaRPr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5"/>
            <p:cNvSpPr/>
            <p:nvPr/>
          </p:nvSpPr>
          <p:spPr>
            <a:xfrm>
              <a:off x="7315200" y="6007608"/>
              <a:ext cx="1417320" cy="4114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B92A6"/>
                </a:buClr>
                <a:buSzPts val="900"/>
                <a:buFont typeface="Arial"/>
                <a:buNone/>
              </a:pPr>
              <a:r>
                <a:rPr lang="en-US" sz="900">
                  <a:solidFill>
                    <a:srgbClr val="8B92A6"/>
                  </a:solidFill>
                  <a:latin typeface="Arial"/>
                  <a:ea typeface="Arial"/>
                  <a:cs typeface="Arial"/>
                  <a:sym typeface="Arial"/>
                </a:rPr>
                <a:t>Importación con token</a:t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6" name="Google Shape;136;p5"/>
            <p:cNvCxnSpPr>
              <a:stCxn id="116" idx="2"/>
            </p:cNvCxnSpPr>
            <p:nvPr/>
          </p:nvCxnSpPr>
          <p:spPr>
            <a:xfrm>
              <a:off x="8334600" y="5207573"/>
              <a:ext cx="215100" cy="324600"/>
            </a:xfrm>
            <a:prstGeom prst="straightConnector1">
              <a:avLst/>
            </a:prstGeom>
            <a:noFill/>
            <a:ln w="15875" cap="flat" cmpd="sng">
              <a:solidFill>
                <a:srgbClr val="5B6478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sp>
        <p:nvSpPr>
          <p:cNvPr id="137" name="Google Shape;137;p5"/>
          <p:cNvSpPr/>
          <p:nvPr/>
        </p:nvSpPr>
        <p:spPr>
          <a:xfrm>
            <a:off x="8732520" y="416052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ODBC/JDBC ·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importación periódica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11247120" y="630936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DE LA FUENTE CRUDA AL HALLAZGO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64008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2800"/>
              <a:buFont typeface="Arial"/>
              <a:buNone/>
            </a:pPr>
            <a:r>
              <a:rPr lang="en-US" sz="2800" b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Una tubería completa, de extremo a extremo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" name="Google Shape;146;p6"/>
          <p:cNvCxnSpPr/>
          <p:nvPr/>
        </p:nvCxnSpPr>
        <p:spPr>
          <a:xfrm>
            <a:off x="1943100" y="3246120"/>
            <a:ext cx="1188720" cy="0"/>
          </a:xfrm>
          <a:prstGeom prst="straightConnector1">
            <a:avLst/>
          </a:prstGeom>
          <a:noFill/>
          <a:ln w="19050" cap="flat" cmpd="sng">
            <a:solidFill>
              <a:srgbClr val="5B647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7" name="Google Shape;147;p6"/>
          <p:cNvCxnSpPr/>
          <p:nvPr/>
        </p:nvCxnSpPr>
        <p:spPr>
          <a:xfrm>
            <a:off x="4274820" y="3246120"/>
            <a:ext cx="1188720" cy="0"/>
          </a:xfrm>
          <a:prstGeom prst="straightConnector1">
            <a:avLst/>
          </a:prstGeom>
          <a:noFill/>
          <a:ln w="19050" cap="flat" cmpd="sng">
            <a:solidFill>
              <a:srgbClr val="5B647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8" name="Google Shape;148;p6"/>
          <p:cNvCxnSpPr/>
          <p:nvPr/>
        </p:nvCxnSpPr>
        <p:spPr>
          <a:xfrm>
            <a:off x="6606540" y="3246120"/>
            <a:ext cx="1188720" cy="0"/>
          </a:xfrm>
          <a:prstGeom prst="straightConnector1">
            <a:avLst/>
          </a:prstGeom>
          <a:noFill/>
          <a:ln w="19050" cap="flat" cmpd="sng">
            <a:solidFill>
              <a:srgbClr val="5B647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9" name="Google Shape;149;p6"/>
          <p:cNvCxnSpPr/>
          <p:nvPr/>
        </p:nvCxnSpPr>
        <p:spPr>
          <a:xfrm>
            <a:off x="8938260" y="3246120"/>
            <a:ext cx="1188720" cy="0"/>
          </a:xfrm>
          <a:prstGeom prst="straightConnector1">
            <a:avLst/>
          </a:prstGeom>
          <a:noFill/>
          <a:ln w="19050" cap="flat" cmpd="sng">
            <a:solidFill>
              <a:srgbClr val="5B64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0" name="Google Shape;150;p6"/>
          <p:cNvSpPr/>
          <p:nvPr/>
        </p:nvSpPr>
        <p:spPr>
          <a:xfrm>
            <a:off x="800100" y="2674620"/>
            <a:ext cx="1143000" cy="1143000"/>
          </a:xfrm>
          <a:prstGeom prst="ellipse">
            <a:avLst/>
          </a:prstGeom>
          <a:solidFill>
            <a:srgbClr val="2A3142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1" name="Google Shape;151;p6" descr="icons/db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5850" y="296037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6"/>
          <p:cNvSpPr/>
          <p:nvPr/>
        </p:nvSpPr>
        <p:spPr>
          <a:xfrm>
            <a:off x="457200" y="402336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Bronze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457200" y="438912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Aterrizaje fiel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a la fuente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3131820" y="2674620"/>
            <a:ext cx="1143000" cy="1143000"/>
          </a:xfrm>
          <a:prstGeom prst="ellipse">
            <a:avLst/>
          </a:prstGeom>
          <a:solidFill>
            <a:srgbClr val="2A3142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5" name="Google Shape;155;p6" descr="icons/layer_whit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17570" y="296037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6"/>
          <p:cNvSpPr/>
          <p:nvPr/>
        </p:nvSpPr>
        <p:spPr>
          <a:xfrm>
            <a:off x="2788920" y="402336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Stage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2788920" y="438912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Limpieza 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reglas de negocio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5463540" y="2674620"/>
            <a:ext cx="1143000" cy="1143000"/>
          </a:xfrm>
          <a:prstGeom prst="ellipse">
            <a:avLst/>
          </a:prstGeom>
          <a:solidFill>
            <a:srgbClr val="FF5A36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6" descr="icons/star_whit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49290" y="296037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6"/>
          <p:cNvSpPr/>
          <p:nvPr/>
        </p:nvSpPr>
        <p:spPr>
          <a:xfrm>
            <a:off x="5120640" y="402336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DW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5120640" y="438912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Modelo estrella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+ constelación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7795260" y="2674620"/>
            <a:ext cx="1143000" cy="1143000"/>
          </a:xfrm>
          <a:prstGeom prst="ellipse">
            <a:avLst/>
          </a:prstGeom>
          <a:solidFill>
            <a:srgbClr val="2DD4BF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3" name="Google Shape;163;p6" descr="icons/brain_whit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81010" y="296037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6"/>
          <p:cNvSpPr/>
          <p:nvPr/>
        </p:nvSpPr>
        <p:spPr>
          <a:xfrm>
            <a:off x="7452360" y="402336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ML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7452360" y="438912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Regresión logística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y Ridge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10126980" y="2674620"/>
            <a:ext cx="1143000" cy="1143000"/>
          </a:xfrm>
          <a:prstGeom prst="ellipse">
            <a:avLst/>
          </a:prstGeom>
          <a:solidFill>
            <a:srgbClr val="2A3142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6" descr="icons/chart_whit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412730" y="296037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6"/>
          <p:cNvSpPr/>
          <p:nvPr/>
        </p:nvSpPr>
        <p:spPr>
          <a:xfrm>
            <a:off x="9784080" y="402336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BI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9784080" y="438912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Power BI +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Databricks SQL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1247120" y="630936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LO QUE NO SE VE, PERO SOSTIENE TODO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640080" y="91440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2800"/>
              <a:buFont typeface="Arial"/>
              <a:buNone/>
            </a:pPr>
            <a:r>
              <a:rPr lang="en-US" sz="2800" b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Cada corrida queda registrada. Sin excepción. Gobernanza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640080" y="160020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El plan de aseguramiento de calidad no es un documento aparte — está implementado en tablas reales que cualquiera puede consultar hoy mismo.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640080" y="246888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151922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982980" y="2674620"/>
            <a:ext cx="685800" cy="685800"/>
          </a:xfrm>
          <a:prstGeom prst="ellipse">
            <a:avLst/>
          </a:prstGeom>
          <a:solidFill>
            <a:srgbClr val="FF5A36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1" name="Google Shape;181;p7" descr="icons/history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4430" y="284607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7"/>
          <p:cNvSpPr/>
          <p:nvPr/>
        </p:nvSpPr>
        <p:spPr>
          <a:xfrm>
            <a:off x="1874520" y="265176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1450"/>
              <a:buFont typeface="Arial"/>
              <a:buNone/>
            </a:pPr>
            <a:r>
              <a:rPr lang="en-US" sz="1450" b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etl_control_log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1005840" y="3429000"/>
            <a:ext cx="46634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Cada corrida del flujo Bronze→Stage→DW: marca de tiempo, filas procesadas, idempotencia verificada.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6172200" y="246888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151922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6515100" y="2674620"/>
            <a:ext cx="685800" cy="685800"/>
          </a:xfrm>
          <a:prstGeom prst="ellipse">
            <a:avLst/>
          </a:prstGeom>
          <a:solidFill>
            <a:srgbClr val="2DD4BF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6" name="Google Shape;186;p7" descr="icons/listcheck_whit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86550" y="284607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7"/>
          <p:cNvSpPr/>
          <p:nvPr/>
        </p:nvSpPr>
        <p:spPr>
          <a:xfrm>
            <a:off x="7406640" y="265176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1450"/>
              <a:buFont typeface="Arial"/>
              <a:buNone/>
            </a:pPr>
            <a:r>
              <a:rPr lang="en-US" sz="1450" b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ml_control_log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6537960" y="3429000"/>
            <a:ext cx="46634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Cada entrenamiento de modelo: métricas reales (AUC, RMSE), run_id de MLflow, filas de train y test.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640080" y="443484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151922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982980" y="4640580"/>
            <a:ext cx="685800" cy="685800"/>
          </a:xfrm>
          <a:prstGeom prst="ellipse">
            <a:avLst/>
          </a:prstGeom>
          <a:solidFill>
            <a:srgbClr val="2A3142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1" name="Google Shape;191;p7" descr="icons/sync_whit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54430" y="481203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7"/>
          <p:cNvSpPr/>
          <p:nvPr/>
        </p:nvSpPr>
        <p:spPr>
          <a:xfrm>
            <a:off x="1874520" y="461772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1450"/>
              <a:buFont typeface="Arial"/>
              <a:buNone/>
            </a:pPr>
            <a:r>
              <a:rPr lang="en-US" sz="1450" b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Respaldo automatizado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1005840" y="5394960"/>
            <a:ext cx="46634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Cron cada 4 horas: 19 tablas replicadas de Databricks hacia PostgreSQL local, con verificación de éxito y notificación a </a:t>
            </a:r>
            <a:r>
              <a:rPr lang="en-US" sz="1050">
                <a:solidFill>
                  <a:srgbClr val="8B92A6"/>
                </a:solidFill>
              </a:rPr>
              <a:t>través</a:t>
            </a:r>
            <a:r>
              <a:rPr lang="en-US" sz="105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 de e-mail.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6172200" y="443484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151922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6515100" y="4640580"/>
            <a:ext cx="685800" cy="685800"/>
          </a:xfrm>
          <a:prstGeom prst="ellipse">
            <a:avLst/>
          </a:prstGeom>
          <a:solidFill>
            <a:srgbClr val="2A3142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6" name="Google Shape;196;p7" descr="icons/server_whit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86550" y="481203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7"/>
          <p:cNvSpPr/>
          <p:nvPr/>
        </p:nvSpPr>
        <p:spPr>
          <a:xfrm>
            <a:off x="7406640" y="461772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1450"/>
              <a:buFont typeface="Arial"/>
              <a:buNone/>
            </a:pPr>
            <a:r>
              <a:rPr lang="en-US" sz="1450" b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Esquema semi2 (auditoría)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6537960" y="5394960"/>
            <a:ext cx="46634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scraping_runs, archivos_descargados, backup_lotes, backup_runs  trazabilidad desde la fuente hasta el respaldo. Base de auditoria local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1247120" y="630936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RIGOR DE INGENIERÍA, NO SOLO RESULTADOS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640080" y="914400"/>
            <a:ext cx="10698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2600"/>
              <a:buFont typeface="Arial"/>
              <a:buNone/>
            </a:pPr>
            <a:r>
              <a:rPr lang="en-US" sz="2600" b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Encontramos un bug de datos. Lo probamos con matemática.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640080" y="1783080"/>
            <a:ext cx="5303520" cy="4297680"/>
          </a:xfrm>
          <a:prstGeom prst="roundRect">
            <a:avLst>
              <a:gd name="adj" fmla="val 2553"/>
            </a:avLst>
          </a:prstGeom>
          <a:solidFill>
            <a:srgbClr val="151922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1074420" y="2171700"/>
            <a:ext cx="868680" cy="868680"/>
          </a:xfrm>
          <a:prstGeom prst="ellipse">
            <a:avLst/>
          </a:prstGeom>
          <a:solidFill>
            <a:srgbClr val="FF5A36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9" name="Google Shape;209;p8" descr="icons/bug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1590" y="2388870"/>
            <a:ext cx="434340" cy="43434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8"/>
          <p:cNvSpPr/>
          <p:nvPr/>
        </p:nvSpPr>
        <p:spPr>
          <a:xfrm>
            <a:off x="2148840" y="224028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400"/>
              <a:buFont typeface="Arial"/>
              <a:buNone/>
            </a:pPr>
            <a:r>
              <a:rPr lang="en-US" sz="1400" b="1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La señal de alarma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914400" y="3154680"/>
            <a:ext cx="45720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El dataset de Machine Learning mostró 3.6 millones de filas de entrenamiento, cuando fact_defunciones tiene 919,231 reales — casi exactamente 4 veces más.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914400" y="397764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5A36"/>
              </a:buClr>
              <a:buSzPts val="2000"/>
              <a:buFont typeface="Arial"/>
              <a:buNone/>
            </a:pPr>
            <a:r>
              <a:rPr lang="en-US" sz="2000" b="1">
                <a:solidFill>
                  <a:srgbClr val="FF5A36"/>
                </a:solidFill>
                <a:latin typeface="Arial"/>
                <a:ea typeface="Arial"/>
                <a:cs typeface="Arial"/>
                <a:sym typeface="Arial"/>
              </a:rPr>
              <a:t>4,055,640 → 919,231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914400" y="4572000"/>
            <a:ext cx="45720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Causa raíz: dim_geografia usaba SELECT DISTINCT sobre la fila completa, y la columna area generaba hasta 4 filas por cada municipio. Se corrigió agrupando por la llave real.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6217920" y="1783080"/>
            <a:ext cx="5303520" cy="4297680"/>
          </a:xfrm>
          <a:prstGeom prst="roundRect">
            <a:avLst>
              <a:gd name="adj" fmla="val 2553"/>
            </a:avLst>
          </a:prstGeom>
          <a:solidFill>
            <a:srgbClr val="1C212C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6652260" y="2171700"/>
            <a:ext cx="868680" cy="868680"/>
          </a:xfrm>
          <a:prstGeom prst="ellipse">
            <a:avLst/>
          </a:prstGeom>
          <a:solidFill>
            <a:srgbClr val="2DD4BF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6" name="Google Shape;216;p8" descr="icons/calculator_whit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69430" y="2388870"/>
            <a:ext cx="434340" cy="43434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8"/>
          <p:cNvSpPr/>
          <p:nvPr/>
        </p:nvSpPr>
        <p:spPr>
          <a:xfrm>
            <a:off x="7726680" y="224028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400"/>
              <a:buFont typeface="Arial"/>
              <a:buNone/>
            </a:pPr>
            <a:r>
              <a:rPr lang="en-US" sz="1400" b="1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La prueba matemática del fix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6492240" y="3154680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El error del modelo de pronóstico bajó en exactamente la misma proporción del bug: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6492240" y="370332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RMSE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7498080" y="370332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107.20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8503920" y="370332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8961120" y="370332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26.83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10058400" y="370332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5A36"/>
              </a:buClr>
              <a:buSzPts val="1100"/>
              <a:buFont typeface="Arial"/>
              <a:buNone/>
            </a:pPr>
            <a:r>
              <a:rPr lang="en-US" sz="1100" i="1">
                <a:solidFill>
                  <a:srgbClr val="FF5A36"/>
                </a:solidFill>
                <a:latin typeface="Arial"/>
                <a:ea typeface="Arial"/>
                <a:cs typeface="Arial"/>
                <a:sym typeface="Arial"/>
              </a:rPr>
              <a:t>÷ 3.996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6492240" y="420624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MAE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7498080" y="420624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53.70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8503920" y="420624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8961120" y="420624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13.47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10058400" y="420624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5A36"/>
              </a:buClr>
              <a:buSzPts val="1100"/>
              <a:buFont typeface="Arial"/>
              <a:buNone/>
            </a:pPr>
            <a:r>
              <a:rPr lang="en-US" sz="1100" i="1">
                <a:solidFill>
                  <a:srgbClr val="FF5A36"/>
                </a:solidFill>
                <a:latin typeface="Arial"/>
                <a:ea typeface="Arial"/>
                <a:cs typeface="Arial"/>
                <a:sym typeface="Arial"/>
              </a:rPr>
              <a:t>÷ 3.988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6492240" y="4846320"/>
            <a:ext cx="466344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1200"/>
              <a:buFont typeface="Arial"/>
              <a:buNone/>
            </a:pPr>
            <a:r>
              <a:rPr lang="en-US" sz="1200" i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Una proporción casi exacta de 4 no es casualidad: confirma matemáticamente que el fix corrigió justo lo que se rompió, no solo que "ya no truena".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11247120" y="630936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HALLAZGO 1 — REGRESIÓN LOGÍSTICA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640080" y="91440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2800"/>
              <a:buFont typeface="Arial"/>
              <a:buNone/>
            </a:pPr>
            <a:r>
              <a:rPr lang="en-US" sz="2800" b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La firma de la pandemia, encontrada sin pistas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640080" y="160020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El modelo clasifica cada defunción como anterior o posterior a la pandemia, usando solo atributos demográficos y de causa. Nunca se le indicó que la pandemia existía.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7909560" y="2286000"/>
            <a:ext cx="3611880" cy="3840480"/>
          </a:xfrm>
          <a:prstGeom prst="roundRect">
            <a:avLst>
              <a:gd name="adj" fmla="val 3038"/>
            </a:avLst>
          </a:prstGeom>
          <a:solidFill>
            <a:srgbClr val="151922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8183875" y="2423160"/>
            <a:ext cx="868800" cy="868800"/>
          </a:xfrm>
          <a:prstGeom prst="ellipse">
            <a:avLst/>
          </a:prstGeom>
          <a:solidFill>
            <a:srgbClr val="FF5A36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1" name="Google Shape;241;p9" descr="icons/virus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97594" y="2646476"/>
            <a:ext cx="434340" cy="43434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9"/>
          <p:cNvSpPr/>
          <p:nvPr/>
        </p:nvSpPr>
        <p:spPr>
          <a:xfrm>
            <a:off x="8183875" y="3337541"/>
            <a:ext cx="3108900" cy="15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5A36"/>
              </a:buClr>
              <a:buSzPts val="4400"/>
              <a:buFont typeface="Arial"/>
              <a:buNone/>
            </a:pPr>
            <a:r>
              <a:rPr lang="en-US" sz="3500" b="1">
                <a:solidFill>
                  <a:srgbClr val="FF5A36"/>
                </a:solidFill>
              </a:rPr>
              <a:t>3.25 veces más probable</a:t>
            </a:r>
            <a:r>
              <a:rPr lang="en-US" sz="5200" b="1">
                <a:solidFill>
                  <a:srgbClr val="FF5A36"/>
                </a:solidFill>
              </a:rPr>
              <a:t> </a:t>
            </a:r>
            <a:endParaRPr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8183880" y="5074920"/>
            <a:ext cx="31089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1250"/>
              <a:buFont typeface="Arial"/>
              <a:buNone/>
            </a:pPr>
            <a:r>
              <a:rPr lang="en-US" sz="1250" i="1">
                <a:solidFill>
                  <a:srgbClr val="F4F4F5"/>
                </a:solidFill>
              </a:rPr>
              <a:t>Las defunciones del pueblo Xinka tienen 3.25 veces más probabilidad de pertenecer al período post-COVID. 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11247120" y="630936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" name="Google Shape;245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075" y="2375675"/>
            <a:ext cx="7191090" cy="3750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ef7a8adb93_13_6"/>
          <p:cNvSpPr/>
          <p:nvPr/>
        </p:nvSpPr>
        <p:spPr>
          <a:xfrm>
            <a:off x="640080" y="4572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HALLAZGO 1 — REGRESIÓN LOGÍSTICA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3ef7a8adb93_13_6"/>
          <p:cNvSpPr/>
          <p:nvPr/>
        </p:nvSpPr>
        <p:spPr>
          <a:xfrm>
            <a:off x="640056" y="1368775"/>
            <a:ext cx="10607100" cy="4546200"/>
          </a:xfrm>
          <a:prstGeom prst="roundRect">
            <a:avLst>
              <a:gd name="adj" fmla="val 3038"/>
            </a:avLst>
          </a:prstGeom>
          <a:solidFill>
            <a:srgbClr val="151922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3" name="Google Shape;253;g3ef7a8adb93_13_6"/>
          <p:cNvSpPr/>
          <p:nvPr/>
        </p:nvSpPr>
        <p:spPr>
          <a:xfrm>
            <a:off x="11247120" y="6309360"/>
            <a:ext cx="548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g3ef7a8adb93_13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7000" y="2223150"/>
            <a:ext cx="6265525" cy="283745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g3ef7a8adb93_13_6"/>
          <p:cNvSpPr/>
          <p:nvPr/>
        </p:nvSpPr>
        <p:spPr>
          <a:xfrm>
            <a:off x="7795390" y="2188004"/>
            <a:ext cx="3108900" cy="2837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just">
              <a:lnSpc>
                <a:spcPct val="130000"/>
              </a:lnSpc>
              <a:buClr>
                <a:srgbClr val="F4F4F5"/>
              </a:buClr>
              <a:buSzPts val="1250"/>
            </a:pPr>
            <a:r>
              <a:rPr lang="es-GT" sz="1250" i="1" dirty="0">
                <a:solidFill>
                  <a:srgbClr val="F4F4F5"/>
                </a:solidFill>
              </a:rPr>
              <a:t>Podemos observar que el pueblo </a:t>
            </a:r>
            <a:r>
              <a:rPr lang="es-GT" sz="1250" i="1" dirty="0" err="1">
                <a:solidFill>
                  <a:srgbClr val="F4F4F5"/>
                </a:solidFill>
              </a:rPr>
              <a:t>Xinka</a:t>
            </a:r>
            <a:r>
              <a:rPr lang="es-GT" sz="1250" i="1" dirty="0">
                <a:solidFill>
                  <a:srgbClr val="F4F4F5"/>
                </a:solidFill>
              </a:rPr>
              <a:t>, comparado con su volumen absoluto de defunciones — uno de los más reducidos entre todos los grupos — muestra proporcionalmente el mayor incremento relativo de mortalidad post-COVID entre los grupos étnicos identificados en el top 10 de predictores del modelo logístico, con un </a:t>
            </a:r>
            <a:r>
              <a:rPr lang="es-GT" sz="1250" i="1" dirty="0" err="1">
                <a:solidFill>
                  <a:srgbClr val="F4F4F5"/>
                </a:solidFill>
              </a:rPr>
              <a:t>odds</a:t>
            </a:r>
            <a:r>
              <a:rPr lang="es-GT" sz="1250" i="1" dirty="0">
                <a:solidFill>
                  <a:srgbClr val="F4F4F5"/>
                </a:solidFill>
              </a:rPr>
              <a:t> ratio de 3.25. (Más probable que suceda)</a:t>
            </a:r>
            <a:endParaRPr sz="1250" i="1" dirty="0">
              <a:solidFill>
                <a:srgbClr val="F4F4F5"/>
              </a:solidFill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HALLAZGO 2 — LECTURA FINA DEL MODELO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64008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2800"/>
              <a:buFont typeface="Arial"/>
              <a:buNone/>
            </a:pPr>
            <a:r>
              <a:rPr lang="en-US" sz="2800" b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Un efecto colateral, no obvio a primera vista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640080" y="178308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151922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1074420" y="2171700"/>
            <a:ext cx="868680" cy="868680"/>
          </a:xfrm>
          <a:prstGeom prst="ellipse">
            <a:avLst/>
          </a:prstGeom>
          <a:solidFill>
            <a:srgbClr val="2A3142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5" name="Google Shape;265;p10" descr="icons/lungs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1590" y="2388870"/>
            <a:ext cx="434340" cy="43434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0"/>
          <p:cNvSpPr/>
          <p:nvPr/>
        </p:nvSpPr>
        <p:spPr>
          <a:xfrm>
            <a:off x="2148840" y="2194560"/>
            <a:ext cx="35204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¿Por qué bajan las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enfermedades respiratorias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en plena pandemia respiratoria?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1874513" y="3566160"/>
            <a:ext cx="27432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3600"/>
              <a:buFont typeface="Arial"/>
              <a:buNone/>
            </a:pPr>
            <a:r>
              <a:rPr lang="en-US" sz="3600" b="1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-0.63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830675" y="4480550"/>
            <a:ext cx="48387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coeficiente del capítulo J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(enfermedades respiratorias generales),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asociado a PRE-COVID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6080760" y="1783080"/>
            <a:ext cx="5440680" cy="4297680"/>
          </a:xfrm>
          <a:prstGeom prst="roundRect">
            <a:avLst>
              <a:gd name="adj" fmla="val 2553"/>
            </a:avLst>
          </a:prstGeom>
          <a:solidFill>
            <a:srgbClr val="1C212C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0"/>
          <p:cNvSpPr/>
          <p:nvPr/>
        </p:nvSpPr>
        <p:spPr>
          <a:xfrm>
            <a:off x="6446520" y="21031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La explicación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6423600" y="2530125"/>
            <a:ext cx="4755000" cy="30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just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Las medidas de mitigación —mascarilla, distanciamiento, restricción de movilidad— redujeron la transmisión de enfermedades respiratorias distintas a COVID-19, un fenómeno documentado a nivel mundial.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La mortalidad directa por COVID-19 se contabiliza aparte, bajo el capítulo U. El descenso en el capítulo J no es ausencia de pandemia: es su efecto indirecto.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11247120" y="630936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HALLAZGO 3 — REGRESIÓN RIDGE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640080" y="91440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2800"/>
              <a:buFont typeface="Arial"/>
              <a:buNone/>
            </a:pPr>
            <a:r>
              <a:rPr lang="en-US" sz="2800" b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¿Quedó algo pendiente después de la pandemia?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640080" y="1600200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Se entrenó con el patrón 2015–2022 y se comparó contra lo observado en 2023–2024, por departamento y capítulo de causa.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1" name="Google Shape;281;p11"/>
          <p:cNvGraphicFramePr/>
          <p:nvPr/>
        </p:nvGraphicFramePr>
        <p:xfrm>
          <a:off x="640080" y="2331720"/>
          <a:ext cx="795528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2" name="Google Shape;282;p11"/>
          <p:cNvSpPr/>
          <p:nvPr/>
        </p:nvSpPr>
        <p:spPr>
          <a:xfrm>
            <a:off x="8823960" y="2148840"/>
            <a:ext cx="2697480" cy="3749040"/>
          </a:xfrm>
          <a:prstGeom prst="roundRect">
            <a:avLst>
              <a:gd name="adj" fmla="val 4068"/>
            </a:avLst>
          </a:prstGeom>
          <a:solidFill>
            <a:srgbClr val="151922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9189720" y="2446020"/>
            <a:ext cx="822960" cy="822960"/>
          </a:xfrm>
          <a:prstGeom prst="ellipse">
            <a:avLst/>
          </a:prstGeom>
          <a:solidFill>
            <a:srgbClr val="FF5A36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4" name="Google Shape;284;p11" descr="icons/calendar_whit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95460" y="264140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1"/>
          <p:cNvSpPr/>
          <p:nvPr/>
        </p:nvSpPr>
        <p:spPr>
          <a:xfrm>
            <a:off x="9006840" y="329184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5A36"/>
              </a:buClr>
              <a:buSzPts val="2800"/>
              <a:buFont typeface="Arial"/>
              <a:buNone/>
            </a:pPr>
            <a:r>
              <a:rPr lang="en-US" sz="2800" b="1">
                <a:solidFill>
                  <a:srgbClr val="FF5A36"/>
                </a:solidFill>
                <a:latin typeface="Arial"/>
                <a:ea typeface="Arial"/>
                <a:cs typeface="Arial"/>
                <a:sym typeface="Arial"/>
              </a:rPr>
              <a:t>+1,488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9006803" y="3886190"/>
            <a:ext cx="2377500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defunciones sobre lo esperado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en mayo de 2024 — el mayor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valor atípico del período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9006840" y="4983485"/>
            <a:ext cx="23775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1150"/>
              <a:buFont typeface="Arial"/>
              <a:buNone/>
            </a:pPr>
            <a:r>
              <a:rPr lang="en-US" sz="1150" i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9 de 12 meses de 2023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1150"/>
              <a:buFont typeface="Arial"/>
              <a:buNone/>
            </a:pPr>
            <a:r>
              <a:rPr lang="en-US" sz="1150" i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estuvieron por debajo de la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1150"/>
              <a:buFont typeface="Arial"/>
              <a:buNone/>
            </a:pPr>
            <a:r>
              <a:rPr lang="en-US" sz="1150" i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tendencia histórica.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11247120" y="630936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ef7a8adb93_13_39"/>
          <p:cNvSpPr/>
          <p:nvPr/>
        </p:nvSpPr>
        <p:spPr>
          <a:xfrm>
            <a:off x="640080" y="4572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HALLAZGO 3 — REGRESIÓN RIDGE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g3ef7a8adb93_13_39"/>
          <p:cNvSpPr/>
          <p:nvPr/>
        </p:nvSpPr>
        <p:spPr>
          <a:xfrm>
            <a:off x="640080" y="914400"/>
            <a:ext cx="10515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2800"/>
              <a:buFont typeface="Arial"/>
              <a:buNone/>
            </a:pPr>
            <a:r>
              <a:rPr lang="en-US" sz="2800" b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¿</a:t>
            </a:r>
            <a:r>
              <a:rPr lang="en-US" sz="2800" b="1">
                <a:solidFill>
                  <a:srgbClr val="F4F4F5"/>
                </a:solidFill>
              </a:rPr>
              <a:t>Pero a qué se debe</a:t>
            </a:r>
            <a:r>
              <a:rPr lang="en-US" sz="2800" b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g3ef7a8adb93_13_39"/>
          <p:cNvSpPr/>
          <p:nvPr/>
        </p:nvSpPr>
        <p:spPr>
          <a:xfrm>
            <a:off x="640080" y="1600200"/>
            <a:ext cx="96012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400"/>
              <a:buFont typeface="Arial"/>
              <a:buNone/>
            </a:pPr>
            <a:r>
              <a:rPr lang="en-US">
                <a:solidFill>
                  <a:srgbClr val="8B92A6"/>
                </a:solidFill>
              </a:rPr>
              <a:t>El modelo Ridge identificó mayo 2024 como el mes más anómalo del período analizado: +1,488 defunciones sobre lo esperado.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g3ef7a8adb93_13_39"/>
          <p:cNvSpPr/>
          <p:nvPr/>
        </p:nvSpPr>
        <p:spPr>
          <a:xfrm>
            <a:off x="8449025" y="2148850"/>
            <a:ext cx="3347100" cy="4160400"/>
          </a:xfrm>
          <a:prstGeom prst="roundRect">
            <a:avLst>
              <a:gd name="adj" fmla="val 4068"/>
            </a:avLst>
          </a:prstGeom>
          <a:solidFill>
            <a:srgbClr val="151922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g3ef7a8adb93_13_39"/>
          <p:cNvSpPr/>
          <p:nvPr/>
        </p:nvSpPr>
        <p:spPr>
          <a:xfrm>
            <a:off x="8563675" y="2148850"/>
            <a:ext cx="3122100" cy="41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8B92A6"/>
                </a:solidFill>
              </a:rPr>
              <a:t>7 de marzo → MSPAS emite alerta epidemiológica nacional por dengue</a:t>
            </a:r>
            <a:endParaRPr sz="1150">
              <a:solidFill>
                <a:srgbClr val="8B92A6"/>
              </a:solidFill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150"/>
              <a:buFont typeface="Arial"/>
              <a:buNone/>
            </a:pPr>
            <a:endParaRPr sz="1150">
              <a:solidFill>
                <a:srgbClr val="8B92A6"/>
              </a:solidFill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8B92A6"/>
                </a:solidFill>
              </a:rPr>
              <a:t>30 de abril → MSPAS declara Emergencia Sanitaria Nacional (Acuerdo Ministerial 152-2024)</a:t>
            </a:r>
            <a:endParaRPr sz="1150">
              <a:solidFill>
                <a:srgbClr val="8B92A6"/>
              </a:solidFill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150"/>
              <a:buFont typeface="Arial"/>
              <a:buNone/>
            </a:pPr>
            <a:endParaRPr sz="1150">
              <a:solidFill>
                <a:srgbClr val="8B92A6"/>
              </a:solidFill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8B92A6"/>
                </a:solidFill>
              </a:rPr>
              <a:t>15 de mayo → 17,002 casos registrados, 12 fallecidos confirmados</a:t>
            </a:r>
            <a:endParaRPr sz="1150">
              <a:solidFill>
                <a:srgbClr val="8B92A6"/>
              </a:solidFill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150"/>
              <a:buFont typeface="Arial"/>
              <a:buNone/>
            </a:pPr>
            <a:endParaRPr sz="1150">
              <a:solidFill>
                <a:srgbClr val="8B92A6"/>
              </a:solidFill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8B92A6"/>
                </a:solidFill>
              </a:rPr>
              <a:t>24 de mayo → MSPAS declara alerta roja institucional en todo el país</a:t>
            </a:r>
            <a:endParaRPr sz="1150">
              <a:solidFill>
                <a:srgbClr val="8B92A6"/>
              </a:solidFill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150"/>
              <a:buFont typeface="Arial"/>
              <a:buNone/>
            </a:pPr>
            <a:endParaRPr sz="1150">
              <a:solidFill>
                <a:srgbClr val="8B92A6"/>
              </a:solidFill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150"/>
              <a:buFont typeface="Arial"/>
              <a:buNone/>
            </a:pPr>
            <a:r>
              <a:rPr lang="en-US" sz="1150" b="1" u="sng">
                <a:solidFill>
                  <a:srgbClr val="F4F4F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AGN — Agencia Guatemalteca de Noticias</a:t>
            </a:r>
            <a:r>
              <a:rPr lang="en-US" b="1" u="sng">
                <a:solidFill>
                  <a:srgbClr val="F4F4F5"/>
                </a:solidFill>
              </a:rPr>
              <a:t> </a:t>
            </a:r>
            <a:r>
              <a:rPr lang="en-US" sz="1150" b="1" u="sng">
                <a:solidFill>
                  <a:srgbClr val="F4F4F5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"Guatemala registra más de 17 mil casos de dengue durante 2024" agn.gt, 15 de mayo de 2024</a:t>
            </a:r>
            <a:endParaRPr sz="1150" b="1" u="sng">
              <a:solidFill>
                <a:srgbClr val="F4F4F5"/>
              </a:solidFill>
            </a:endParaRPr>
          </a:p>
        </p:txBody>
      </p:sp>
      <p:sp>
        <p:nvSpPr>
          <p:cNvPr id="299" name="Google Shape;299;g3ef7a8adb93_13_39"/>
          <p:cNvSpPr/>
          <p:nvPr/>
        </p:nvSpPr>
        <p:spPr>
          <a:xfrm>
            <a:off x="11247120" y="6309360"/>
            <a:ext cx="548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0" name="Google Shape;300;g3ef7a8adb93_13_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0075" y="2204250"/>
            <a:ext cx="7085750" cy="404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2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DE LOS DATOS A LA DECISIÓN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64008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2800"/>
              <a:buFont typeface="Arial"/>
              <a:buNone/>
            </a:pPr>
            <a:r>
              <a:rPr lang="en-US" sz="2800" b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Dos herramientas, un mismo origen de datos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640080" y="182880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151922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12"/>
          <p:cNvSpPr/>
          <p:nvPr/>
        </p:nvSpPr>
        <p:spPr>
          <a:xfrm>
            <a:off x="1097280" y="2148840"/>
            <a:ext cx="914400" cy="914400"/>
          </a:xfrm>
          <a:prstGeom prst="ellipse">
            <a:avLst/>
          </a:prstGeom>
          <a:solidFill>
            <a:srgbClr val="FF5A36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0" name="Google Shape;310;p12" descr="icons/bi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25880" y="23774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2"/>
          <p:cNvSpPr/>
          <p:nvPr/>
        </p:nvSpPr>
        <p:spPr>
          <a:xfrm>
            <a:off x="2194560" y="2194560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2000"/>
              <a:buFont typeface="Arial"/>
              <a:buNone/>
            </a:pPr>
            <a:r>
              <a:rPr lang="en-US" sz="2000" b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Power BI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2194560" y="269748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5A36"/>
              </a:buClr>
              <a:buSzPts val="1050"/>
              <a:buFont typeface="Arial"/>
              <a:buNone/>
            </a:pPr>
            <a:r>
              <a:rPr lang="en-US" sz="1050" b="1">
                <a:solidFill>
                  <a:srgbClr val="FF5A36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050" b="1">
                <a:solidFill>
                  <a:srgbClr val="FF5A36"/>
                </a:solidFill>
              </a:rPr>
              <a:t>DASHBOARDS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1051560" y="3383280"/>
            <a:ext cx="443484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just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Importación con token vía Azure Databric</a:t>
            </a:r>
            <a:r>
              <a:rPr lang="en-US" sz="1300">
                <a:solidFill>
                  <a:srgbClr val="8B92A6"/>
                </a:solidFill>
              </a:rPr>
              <a:t>ks (</a:t>
            </a:r>
            <a:r>
              <a:rPr lang="en-US" sz="130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ODBC/JDBC). </a:t>
            </a:r>
            <a:r>
              <a:rPr lang="en-US" sz="1300">
                <a:solidFill>
                  <a:srgbClr val="8B92A6"/>
                </a:solidFill>
              </a:rPr>
              <a:t>Las m</a:t>
            </a:r>
            <a:r>
              <a:rPr lang="en-US" sz="130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edidas fueron calculadas con DAX sobre dataset_defunciones, dataset_mensual_depto_causa y dos dimensiones del modelo estrella.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6172200" y="182880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151922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2"/>
          <p:cNvSpPr/>
          <p:nvPr/>
        </p:nvSpPr>
        <p:spPr>
          <a:xfrm>
            <a:off x="6629400" y="2148840"/>
            <a:ext cx="914400" cy="914400"/>
          </a:xfrm>
          <a:prstGeom prst="ellipse">
            <a:avLst/>
          </a:prstGeom>
          <a:solidFill>
            <a:srgbClr val="2DD4BF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6" name="Google Shape;316;p12" descr="icons/sql_whit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58000" y="23774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2"/>
          <p:cNvSpPr/>
          <p:nvPr/>
        </p:nvSpPr>
        <p:spPr>
          <a:xfrm>
            <a:off x="7726680" y="2194560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2000"/>
              <a:buFont typeface="Arial"/>
              <a:buNone/>
            </a:pPr>
            <a:r>
              <a:rPr lang="en-US" sz="2000" b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Databricks SQL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7726680" y="269748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050"/>
              <a:buFont typeface="Arial"/>
              <a:buNone/>
            </a:pPr>
            <a:r>
              <a:rPr lang="en-US" sz="1050" b="1">
                <a:solidFill>
                  <a:srgbClr val="2DD4BF"/>
                </a:solidFill>
              </a:rPr>
              <a:t>2 DASHBOARDS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6583680" y="3383280"/>
            <a:ext cx="443484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just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Consultas directas sobre el Data Warehouse, visualizadas con el panel nativo de dashboards de Databricks — sin mover los datos fuera de la plataforma.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11247120" y="630936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3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MÁS ALLÁ DEL CÓDIGO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64008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2800"/>
              <a:buFont typeface="Arial"/>
              <a:buNone/>
            </a:pPr>
            <a:r>
              <a:rPr lang="en-US" sz="2800" b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Una consultoría real necesita gestión real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640080" y="1783080"/>
            <a:ext cx="5120640" cy="4297680"/>
          </a:xfrm>
          <a:prstGeom prst="roundRect">
            <a:avLst>
              <a:gd name="adj" fmla="val 2553"/>
            </a:avLst>
          </a:prstGeom>
          <a:solidFill>
            <a:srgbClr val="151922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3"/>
          <p:cNvSpPr/>
          <p:nvPr/>
        </p:nvSpPr>
        <p:spPr>
          <a:xfrm>
            <a:off x="1028700" y="2080260"/>
            <a:ext cx="777240" cy="777240"/>
          </a:xfrm>
          <a:prstGeom prst="ellipse">
            <a:avLst/>
          </a:prstGeom>
          <a:solidFill>
            <a:srgbClr val="2A3142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0" name="Google Shape;330;p13" descr="icons/users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23010" y="227457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3"/>
          <p:cNvSpPr/>
          <p:nvPr/>
        </p:nvSpPr>
        <p:spPr>
          <a:xfrm>
            <a:off x="1965960" y="2148840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Equipo y responsabilidades (RACI)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960120" y="306324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Alberto Hernández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960120" y="3374136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Ingesta, arquitectura, respaldo y aprendizaje automático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960120" y="3959352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Fabio Hernández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960120" y="4270248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Transformación ETL, modelo dimensional y visualización BI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960120" y="4855464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Luis Morales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960120" y="516636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Documentación, gobernanza de datos y gestión del proyecto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5943600" y="1783080"/>
            <a:ext cx="5577840" cy="4297680"/>
          </a:xfrm>
          <a:prstGeom prst="roundRect">
            <a:avLst>
              <a:gd name="adj" fmla="val 2553"/>
            </a:avLst>
          </a:prstGeom>
          <a:solidFill>
            <a:srgbClr val="1C212C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6332220" y="2080260"/>
            <a:ext cx="777240" cy="777240"/>
          </a:xfrm>
          <a:prstGeom prst="ellipse">
            <a:avLst/>
          </a:prstGeom>
          <a:solidFill>
            <a:srgbClr val="FF5A36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0" name="Google Shape;340;p13" descr="icons/triangle_whit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26530" y="227457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3"/>
          <p:cNvSpPr/>
          <p:nvPr/>
        </p:nvSpPr>
        <p:spPr>
          <a:xfrm>
            <a:off x="7269480" y="2148840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Riesgos que de verdad enfrentamos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6263640" y="3127248"/>
            <a:ext cx="109728" cy="109728"/>
          </a:xfrm>
          <a:prstGeom prst="ellipse">
            <a:avLst/>
          </a:prstGeom>
          <a:solidFill>
            <a:srgbClr val="FF5A3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3"/>
          <p:cNvSpPr/>
          <p:nvPr/>
        </p:nvSpPr>
        <p:spPr>
          <a:xfrm>
            <a:off x="6492240" y="2990088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Bloqueo anti-bot del INE → automatización que replica interacción humana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6263640" y="3840480"/>
            <a:ext cx="109728" cy="109728"/>
          </a:xfrm>
          <a:prstGeom prst="ellipse">
            <a:avLst/>
          </a:prstGeom>
          <a:solidFill>
            <a:srgbClr val="FF5A3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3"/>
          <p:cNvSpPr/>
          <p:nvPr/>
        </p:nvSpPr>
        <p:spPr>
          <a:xfrm>
            <a:off x="6492240" y="3703320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Límite de tamaño de Spark Connect ML → migración a scikit-learn sin perder rigor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6263640" y="4553712"/>
            <a:ext cx="109728" cy="109728"/>
          </a:xfrm>
          <a:prstGeom prst="ellipse">
            <a:avLst/>
          </a:prstGeom>
          <a:solidFill>
            <a:srgbClr val="FF5A3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3"/>
          <p:cNvSpPr/>
          <p:nvPr/>
        </p:nvSpPr>
        <p:spPr>
          <a:xfrm>
            <a:off x="6492240" y="4416552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Tiempo de espera de contestación de RENAP y ambigüedad en entendimiento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6492240" y="5129784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11247120" y="630936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4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PROPUESTA FINANCIERA N.O PAM-2026-03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4"/>
          <p:cNvSpPr/>
          <p:nvPr/>
        </p:nvSpPr>
        <p:spPr>
          <a:xfrm>
            <a:off x="640080" y="91440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2700"/>
              <a:buFont typeface="Arial"/>
              <a:buNone/>
            </a:pPr>
            <a:r>
              <a:rPr lang="en-US" sz="2700" b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Suma alzada, tarifas verificadas contra mercado real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640080" y="1783080"/>
            <a:ext cx="3200400" cy="4297680"/>
          </a:xfrm>
          <a:prstGeom prst="roundRect">
            <a:avLst>
              <a:gd name="adj" fmla="val 3429"/>
            </a:avLst>
          </a:prstGeom>
          <a:solidFill>
            <a:srgbClr val="151922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4"/>
          <p:cNvSpPr/>
          <p:nvPr/>
        </p:nvSpPr>
        <p:spPr>
          <a:xfrm>
            <a:off x="1805940" y="2171700"/>
            <a:ext cx="868680" cy="868680"/>
          </a:xfrm>
          <a:prstGeom prst="ellipse">
            <a:avLst/>
          </a:prstGeom>
          <a:solidFill>
            <a:srgbClr val="FF5A36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9" name="Google Shape;359;p14" descr="icons/moneybill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23110" y="2388870"/>
            <a:ext cx="434340" cy="43434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4"/>
          <p:cNvSpPr/>
          <p:nvPr/>
        </p:nvSpPr>
        <p:spPr>
          <a:xfrm>
            <a:off x="868680" y="333756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5A36"/>
              </a:buClr>
              <a:buSzPts val="2600"/>
              <a:buFont typeface="Arial"/>
              <a:buNone/>
            </a:pPr>
            <a:r>
              <a:rPr lang="en-US" sz="2600" b="1">
                <a:solidFill>
                  <a:srgbClr val="FF5A36"/>
                </a:solidFill>
                <a:latin typeface="Arial"/>
                <a:ea typeface="Arial"/>
                <a:cs typeface="Arial"/>
                <a:sym typeface="Arial"/>
              </a:rPr>
              <a:t>$20,278.21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868680" y="3977640"/>
            <a:ext cx="27432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costo total del proyecto,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todo incluido, pagadero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contra 5 hitos de entrega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4069080" y="1783080"/>
            <a:ext cx="3566160" cy="4297680"/>
          </a:xfrm>
          <a:prstGeom prst="roundRect">
            <a:avLst>
              <a:gd name="adj" fmla="val 3077"/>
            </a:avLst>
          </a:prstGeom>
          <a:solidFill>
            <a:srgbClr val="1C212C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4"/>
          <p:cNvSpPr/>
          <p:nvPr/>
        </p:nvSpPr>
        <p:spPr>
          <a:xfrm>
            <a:off x="4343400" y="205740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Desglose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4343400" y="251460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$19,265.61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4"/>
          <p:cNvSpPr/>
          <p:nvPr/>
        </p:nvSpPr>
        <p:spPr>
          <a:xfrm>
            <a:off x="4343400" y="3017520"/>
            <a:ext cx="30175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costo de personal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(4 roles, persona-mes por fase)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4343400" y="374904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$1,012.60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4343400" y="4251960"/>
            <a:ext cx="30175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costo no personal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(Databricks, AWS S3, Power BI Pro)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4343400" y="5029200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50"/>
              <a:buFont typeface="Arial"/>
              <a:buNone/>
            </a:pPr>
            <a:r>
              <a:rPr lang="en-US" sz="950" i="1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Metodología: tarifas de ERI SalaryExpert (Guatemala, 2026), con la escala de honorarios de la ONU como referencia comparativa, no como base de cálculo.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7909560" y="1783080"/>
            <a:ext cx="3611880" cy="4297680"/>
          </a:xfrm>
          <a:prstGeom prst="roundRect">
            <a:avLst>
              <a:gd name="adj" fmla="val 3038"/>
            </a:avLst>
          </a:prstGeom>
          <a:solidFill>
            <a:srgbClr val="151922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4"/>
          <p:cNvSpPr/>
          <p:nvPr/>
        </p:nvSpPr>
        <p:spPr>
          <a:xfrm>
            <a:off x="8298180" y="2080260"/>
            <a:ext cx="777240" cy="777240"/>
          </a:xfrm>
          <a:prstGeom prst="ellipse">
            <a:avLst/>
          </a:prstGeom>
          <a:solidFill>
            <a:srgbClr val="2A3142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1" name="Google Shape;371;p14" descr="icons/filesign_whit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92490" y="227457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4"/>
          <p:cNvSpPr/>
          <p:nvPr/>
        </p:nvSpPr>
        <p:spPr>
          <a:xfrm>
            <a:off x="9189720" y="219456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Gestión formal del proyecto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8183880" y="3255264"/>
            <a:ext cx="91440" cy="9144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4"/>
          <p:cNvSpPr/>
          <p:nvPr/>
        </p:nvSpPr>
        <p:spPr>
          <a:xfrm>
            <a:off x="8366760" y="310896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Project Charter firmado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8183880" y="3822192"/>
            <a:ext cx="91440" cy="9144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14"/>
          <p:cNvSpPr/>
          <p:nvPr/>
        </p:nvSpPr>
        <p:spPr>
          <a:xfrm>
            <a:off x="8366760" y="3675888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Cronograma de 4 meses, 5 hitos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4"/>
          <p:cNvSpPr/>
          <p:nvPr/>
        </p:nvSpPr>
        <p:spPr>
          <a:xfrm>
            <a:off x="8183880" y="4389120"/>
            <a:ext cx="91440" cy="9144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4"/>
          <p:cNvSpPr/>
          <p:nvPr/>
        </p:nvSpPr>
        <p:spPr>
          <a:xfrm>
            <a:off x="8366760" y="4242816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Matriz RACI por actividad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4"/>
          <p:cNvSpPr/>
          <p:nvPr/>
        </p:nvSpPr>
        <p:spPr>
          <a:xfrm>
            <a:off x="8183880" y="4956048"/>
            <a:ext cx="91440" cy="9144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14"/>
          <p:cNvSpPr/>
          <p:nvPr/>
        </p:nvSpPr>
        <p:spPr>
          <a:xfrm>
            <a:off x="8366760" y="4809744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Cotización formal con firma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11247120" y="630936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5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RECOMENDACIONES DE POLÍTICA PÚBLICA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5"/>
          <p:cNvSpPr/>
          <p:nvPr/>
        </p:nvSpPr>
        <p:spPr>
          <a:xfrm>
            <a:off x="640080" y="91440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2800"/>
              <a:buFont typeface="Arial"/>
              <a:buNone/>
            </a:pPr>
            <a:r>
              <a:rPr lang="en-US" sz="2800" b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Tres acciones para el Ministerio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777240" y="1828800"/>
            <a:ext cx="914400" cy="914400"/>
          </a:xfrm>
          <a:prstGeom prst="ellipse">
            <a:avLst/>
          </a:prstGeom>
          <a:solidFill>
            <a:srgbClr val="FF5A36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0" name="Google Shape;390;p15" descr="icons/clipboard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5840" y="20574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15"/>
          <p:cNvSpPr/>
          <p:nvPr/>
        </p:nvSpPr>
        <p:spPr>
          <a:xfrm>
            <a:off x="2011680" y="1828800"/>
            <a:ext cx="8961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1700"/>
              <a:buFont typeface="Arial"/>
              <a:buNone/>
            </a:pPr>
            <a:r>
              <a:rPr lang="en-US" sz="1700" b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Reforzar el registro de asistencia médica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5"/>
          <p:cNvSpPr/>
          <p:nvPr/>
        </p:nvSpPr>
        <p:spPr>
          <a:xfrm>
            <a:off x="2011680" y="2286000"/>
            <a:ext cx="8961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Las defunciones sin ese dato aumentaron después de la pandemia, un vacío de información que limita el monitoreo de calidad de atención.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5"/>
          <p:cNvSpPr/>
          <p:nvPr/>
        </p:nvSpPr>
        <p:spPr>
          <a:xfrm>
            <a:off x="777240" y="3337560"/>
            <a:ext cx="914400" cy="914400"/>
          </a:xfrm>
          <a:prstGeom prst="ellipse">
            <a:avLst/>
          </a:prstGeom>
          <a:solidFill>
            <a:srgbClr val="2A3142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4" name="Google Shape;394;p15" descr="icons/search_whit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5840" y="35661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15"/>
          <p:cNvSpPr/>
          <p:nvPr/>
        </p:nvSpPr>
        <p:spPr>
          <a:xfrm>
            <a:off x="2011680" y="3337560"/>
            <a:ext cx="8961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1700"/>
              <a:buFont typeface="Arial"/>
              <a:buNone/>
            </a:pPr>
            <a:r>
              <a:rPr lang="en-US" sz="1700" b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Investigar el repunte de mayo de 2024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5"/>
          <p:cNvSpPr/>
          <p:nvPr/>
        </p:nvSpPr>
        <p:spPr>
          <a:xfrm>
            <a:off x="2011680" y="3794760"/>
            <a:ext cx="8961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Es el valor atípico más alto del período evaluado. Amerita un análisis específico por causa y departamento.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5"/>
          <p:cNvSpPr/>
          <p:nvPr/>
        </p:nvSpPr>
        <p:spPr>
          <a:xfrm>
            <a:off x="777240" y="4846320"/>
            <a:ext cx="914400" cy="914400"/>
          </a:xfrm>
          <a:prstGeom prst="ellipse">
            <a:avLst/>
          </a:prstGeom>
          <a:solidFill>
            <a:srgbClr val="2A3142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8" name="Google Shape;398;p15" descr="icons/shield_whit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5840" y="50749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15"/>
          <p:cNvSpPr/>
          <p:nvPr/>
        </p:nvSpPr>
        <p:spPr>
          <a:xfrm>
            <a:off x="2011680" y="4846320"/>
            <a:ext cx="8961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1700"/>
              <a:buFont typeface="Arial"/>
              <a:buNone/>
            </a:pPr>
            <a:r>
              <a:rPr lang="en-US" sz="1700" b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Vigilar enfermedades respiratorias no-COVID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5"/>
          <p:cNvSpPr/>
          <p:nvPr/>
        </p:nvSpPr>
        <p:spPr>
          <a:xfrm>
            <a:off x="2011680" y="5303520"/>
            <a:ext cx="8961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B92A6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8B92A6"/>
                </a:solidFill>
                <a:latin typeface="Arial"/>
                <a:ea typeface="Arial"/>
                <a:cs typeface="Arial"/>
                <a:sym typeface="Arial"/>
              </a:rPr>
              <a:t>Su descenso relativo sugiere un efecto protector de las medidas de mitigación que conviene seguir monitoreando.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11247120" y="630936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ef7a8adb93_14_0"/>
          <p:cNvSpPr/>
          <p:nvPr/>
        </p:nvSpPr>
        <p:spPr>
          <a:xfrm>
            <a:off x="640080" y="4572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2DD4BF"/>
                </a:solidFill>
              </a:rPr>
              <a:t>UNA BUENA ORGANIZACIÓN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g3ef7a8adb93_14_0"/>
          <p:cNvSpPr/>
          <p:nvPr/>
        </p:nvSpPr>
        <p:spPr>
          <a:xfrm>
            <a:off x="640080" y="914400"/>
            <a:ext cx="100584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2800"/>
              <a:buFont typeface="Arial"/>
              <a:buNone/>
            </a:pPr>
            <a:r>
              <a:rPr lang="en-US" sz="2800" b="1">
                <a:solidFill>
                  <a:srgbClr val="F4F4F5"/>
                </a:solidFill>
              </a:rPr>
              <a:t>Programación del desarrollo con diagrama de Gantt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g3ef7a8adb93_14_0"/>
          <p:cNvSpPr/>
          <p:nvPr/>
        </p:nvSpPr>
        <p:spPr>
          <a:xfrm>
            <a:off x="640075" y="2078275"/>
            <a:ext cx="10859100" cy="3707400"/>
          </a:xfrm>
          <a:prstGeom prst="roundRect">
            <a:avLst>
              <a:gd name="adj" fmla="val 2553"/>
            </a:avLst>
          </a:prstGeom>
          <a:solidFill>
            <a:srgbClr val="151922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g3ef7a8adb93_14_0"/>
          <p:cNvSpPr/>
          <p:nvPr/>
        </p:nvSpPr>
        <p:spPr>
          <a:xfrm>
            <a:off x="6492240" y="5129784"/>
            <a:ext cx="48462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g3ef7a8adb93_14_0"/>
          <p:cNvSpPr/>
          <p:nvPr/>
        </p:nvSpPr>
        <p:spPr>
          <a:xfrm>
            <a:off x="11247120" y="6309360"/>
            <a:ext cx="548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2" name="Google Shape;412;g3ef7a8adb93_14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1025" y="2461900"/>
            <a:ext cx="10289956" cy="2812737"/>
          </a:xfrm>
          <a:prstGeom prst="rect">
            <a:avLst/>
          </a:prstGeom>
          <a:solidFill>
            <a:srgbClr val="151922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0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ef7a8adb93_14_30"/>
          <p:cNvSpPr/>
          <p:nvPr/>
        </p:nvSpPr>
        <p:spPr>
          <a:xfrm>
            <a:off x="640080" y="4572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2DD4BF"/>
                </a:solidFill>
              </a:rPr>
              <a:t>PLATAFORMA ANALITICA DE MORTALIDAD END TO END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g3ef7a8adb93_14_30"/>
          <p:cNvSpPr/>
          <p:nvPr/>
        </p:nvSpPr>
        <p:spPr>
          <a:xfrm>
            <a:off x="640080" y="914400"/>
            <a:ext cx="100584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2800"/>
              <a:buFont typeface="Arial"/>
              <a:buNone/>
            </a:pPr>
            <a:r>
              <a:rPr lang="en-US" sz="2800" b="1">
                <a:solidFill>
                  <a:srgbClr val="F4F4F5"/>
                </a:solidFill>
              </a:rPr>
              <a:t>Estructura de Desglose del Trabajo (WBS)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g3ef7a8adb93_14_30"/>
          <p:cNvSpPr/>
          <p:nvPr/>
        </p:nvSpPr>
        <p:spPr>
          <a:xfrm>
            <a:off x="640075" y="1750750"/>
            <a:ext cx="10859100" cy="4817400"/>
          </a:xfrm>
          <a:prstGeom prst="roundRect">
            <a:avLst>
              <a:gd name="adj" fmla="val 2553"/>
            </a:avLst>
          </a:prstGeom>
          <a:solidFill>
            <a:srgbClr val="151922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g3ef7a8adb93_14_30"/>
          <p:cNvSpPr/>
          <p:nvPr/>
        </p:nvSpPr>
        <p:spPr>
          <a:xfrm>
            <a:off x="6492240" y="5129784"/>
            <a:ext cx="48462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g3ef7a8adb93_14_30"/>
          <p:cNvSpPr/>
          <p:nvPr/>
        </p:nvSpPr>
        <p:spPr>
          <a:xfrm>
            <a:off x="11247120" y="6309360"/>
            <a:ext cx="548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3" name="Google Shape;423;g3ef7a8adb93_14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9325" y="2029125"/>
            <a:ext cx="4260601" cy="4410975"/>
          </a:xfrm>
          <a:prstGeom prst="rect">
            <a:avLst/>
          </a:prstGeom>
          <a:solidFill>
            <a:srgbClr val="151922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0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6"/>
          <p:cNvSpPr/>
          <p:nvPr/>
        </p:nvSpPr>
        <p:spPr>
          <a:xfrm>
            <a:off x="-4114800" y="-3657600"/>
            <a:ext cx="5486400" cy="5486400"/>
          </a:xfrm>
          <a:prstGeom prst="ellipse">
            <a:avLst/>
          </a:prstGeom>
          <a:noFill/>
          <a:ln w="15875" cap="flat" cmpd="sng">
            <a:solidFill>
              <a:srgbClr val="2DD4BF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16"/>
          <p:cNvSpPr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PNUD  ·  MSPAS  ·  GUATEMALA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6"/>
          <p:cNvSpPr/>
          <p:nvPr/>
        </p:nvSpPr>
        <p:spPr>
          <a:xfrm>
            <a:off x="731520" y="1828800"/>
            <a:ext cx="1024128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3800"/>
              <a:buFont typeface="Arial"/>
              <a:buNone/>
            </a:pPr>
            <a:r>
              <a:rPr lang="en-US" sz="3800" b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La evidencia ya está. 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3800"/>
              <a:buFont typeface="Arial"/>
              <a:buNone/>
            </a:pPr>
            <a:r>
              <a:rPr lang="en-US" sz="3800" b="1">
                <a:solidFill>
                  <a:srgbClr val="F4F4F5"/>
                </a:solidFill>
                <a:latin typeface="Arial"/>
                <a:ea typeface="Arial"/>
                <a:cs typeface="Arial"/>
                <a:sym typeface="Arial"/>
              </a:rPr>
              <a:t>La decisión, ahora, es del Ministerio.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6"/>
          <p:cNvSpPr/>
          <p:nvPr/>
        </p:nvSpPr>
        <p:spPr>
          <a:xfrm>
            <a:off x="731520" y="384048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2000"/>
              <a:buFont typeface="Arial"/>
              <a:buNone/>
            </a:pPr>
            <a:r>
              <a:rPr lang="en-US" sz="2000" b="1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Gracias. Preguntas.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6"/>
          <p:cNvSpPr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Alberto Hernández  ·  Fabio Hernández  ·  Luis Morales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6"/>
          <p:cNvSpPr/>
          <p:nvPr/>
        </p:nvSpPr>
        <p:spPr>
          <a:xfrm>
            <a:off x="731520" y="6400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Plataforma Analítica de Mortalidad End to End — Seminario de Sistemas 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1598</Words>
  <Application>Microsoft Office PowerPoint</Application>
  <PresentationFormat>Panorámica</PresentationFormat>
  <Paragraphs>244</Paragraphs>
  <Slides>20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Equipo Consultor</dc:creator>
  <cp:lastModifiedBy>Fabio Hernández</cp:lastModifiedBy>
  <cp:revision>1</cp:revision>
  <dcterms:created xsi:type="dcterms:W3CDTF">2026-06-26T06:47:46Z</dcterms:created>
  <dcterms:modified xsi:type="dcterms:W3CDTF">2026-06-26T09:24:31Z</dcterms:modified>
</cp:coreProperties>
</file>